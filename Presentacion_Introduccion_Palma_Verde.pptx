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7d7afeff72465e" /><Relationship Type="http://schemas.openxmlformats.org/officeDocument/2006/relationships/extended-properties" Target="/docProps/app.xml" Id="Rbb15060fdab0447d" /><Relationship Type="http://schemas.openxmlformats.org/officeDocument/2006/relationships/officeDocument" Target="/ppt/presentation.xml" Id="Rdf0eb44c9d1d4b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a46b12be2b4f2d"/>
  </p:sldMasterIdLst>
  <p:notesMasterIdLst>
    <p:notesMasterId xmlns:r="http://schemas.openxmlformats.org/officeDocument/2006/relationships" r:id="Rc674a1a42f2e4458"/>
  </p:notesMasterIdLst>
  <p:sldIdLst>
    <p:sldId xmlns:r="http://schemas.openxmlformats.org/officeDocument/2006/relationships" id="256" r:id="R59a26d99954943ac"/>
    <p:sldId xmlns:r="http://schemas.openxmlformats.org/officeDocument/2006/relationships" id="257" r:id="Rf268d4a8aa7e4448"/>
    <p:sldId xmlns:r="http://schemas.openxmlformats.org/officeDocument/2006/relationships" id="258" r:id="R33a183be4e274a1e"/>
    <p:sldId xmlns:r="http://schemas.openxmlformats.org/officeDocument/2006/relationships" id="259" r:id="Rac9545a486b94a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dc4ead1a1a46f6" /><Relationship Type="http://schemas.openxmlformats.org/officeDocument/2006/relationships/slideMaster" Target="/ppt/slideMasters/slideMaster1.xml" Id="Rf7a46b12be2b4f2d" /><Relationship Type="http://schemas.openxmlformats.org/officeDocument/2006/relationships/notesMaster" Target="/ppt/notesMasters/notesMaster1.xml" Id="Rc674a1a42f2e4458" /><Relationship Type="http://schemas.openxmlformats.org/officeDocument/2006/relationships/presProps" Target="/ppt/presProps.xml" Id="Rc0b73b36d56e49a8" /><Relationship Type="http://schemas.openxmlformats.org/officeDocument/2006/relationships/tableStyles" Target="/ppt/tableStyles.xml" Id="R0a1afefe713e4cdf" /><Relationship Type="http://schemas.openxmlformats.org/officeDocument/2006/relationships/slide" Target="/ppt/slides/slide1.xml" Id="R59a26d99954943ac" /><Relationship Type="http://schemas.openxmlformats.org/officeDocument/2006/relationships/slide" Target="/ppt/slides/slide2.xml" Id="Rf268d4a8aa7e4448" /><Relationship Type="http://schemas.openxmlformats.org/officeDocument/2006/relationships/slide" Target="/ppt/slides/slide3.xml" Id="R33a183be4e274a1e" /><Relationship Type="http://schemas.openxmlformats.org/officeDocument/2006/relationships/slide" Target="/ppt/slides/slide4.xml" Id="Rac9545a486b94a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067a14cc3843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98715ffbba408b" /><Relationship Type="http://schemas.openxmlformats.org/officeDocument/2006/relationships/notesMaster" Target="/ppt/notesMasters/notesMaster1.xml" Id="R49a356a000fa46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ffc046ff0e43b8" /><Relationship Type="http://schemas.openxmlformats.org/officeDocument/2006/relationships/notesMaster" Target="/ppt/notesMasters/notesMaster1.xml" Id="Rabea84a0644649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26ffaf15d0446c" /><Relationship Type="http://schemas.openxmlformats.org/officeDocument/2006/relationships/notesMaster" Target="/ppt/notesMasters/notesMaster1.xml" Id="R96310f36613246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47b97f14554a16" /><Relationship Type="http://schemas.openxmlformats.org/officeDocument/2006/relationships/notesMaster" Target="/ppt/notesMasters/notesMaster1.xml" Id="R99ad146f733b46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90b661737542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ee5c52af7e4a71" /><Relationship Type="http://schemas.openxmlformats.org/officeDocument/2006/relationships/slideLayout" Target="/ppt/slideLayouts/slideLayout1.xml" Id="R7c4da0fba9b244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4da0fba9b244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0b30eab404a05" /><Relationship Type="http://schemas.openxmlformats.org/officeDocument/2006/relationships/notesSlide" Target="/ppt/notesSlides/notesSlide1.xml" Id="R5fce550a3ec44f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f6489804cd4d37" /><Relationship Type="http://schemas.openxmlformats.org/officeDocument/2006/relationships/notesSlide" Target="/ppt/notesSlides/notesSlide2.xml" Id="Rfb5cd32903a646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554768d704203" /><Relationship Type="http://schemas.openxmlformats.org/officeDocument/2006/relationships/notesSlide" Target="/ppt/notesSlides/notesSlide3.xml" Id="Rfdb391339bc74c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1d397b9434e0d" /><Relationship Type="http://schemas.openxmlformats.org/officeDocument/2006/relationships/notesSlide" Target="/ppt/notesSlides/notesSlide4.xml" Id="R68aef5dd282843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D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ABA8FA23-F2E5-4ECF-98AE-0A7D8C0A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C38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C38F"/>
                </a:solidFill>
                <a:latin typeface="Arial"/>
                <a:ea typeface="Arial"/>
                <a:cs typeface="Arial"/>
              </a:rPr>
              <a:t>PALMA VERDE S.A. · SISTEMA WEB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41D9331-7AB7-4A3D-8493-9D314C78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809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Trazabilidad logística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 inventarios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58A0A7F-1103-42AC-9C20-FB324ABE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771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8E4D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8E4DD"/>
                </a:solidFill>
                <a:latin typeface="Arial"/>
                <a:ea typeface="Arial"/>
                <a:cs typeface="Arial"/>
              </a:rPr>
              <a:t>Control integrado desde la recepción de materias primas hasta el despacho del producto terminado.</a:t>
            </a:r>
          </a:p>
        </p:txBody>
      </p:sp>
      <p:sp>
        <p:nvSpPr>
          <p:cNvPr id="4" name="brand-mark">
            <a:extLst xmlns:a="http://schemas.openxmlformats.org/drawingml/2006/main">
              <a:ext uri="{FF2B5EF4-FFF2-40B4-BE49-F238E27FC236}">
                <a16:creationId xmlns:a16="http://schemas.microsoft.com/office/drawing/2014/main" id="{C5BEE06B-1F17-45A2-8FF8-E50B7B88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76300"/>
            <a:ext cx="1428750" cy="14287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87A50"/>
          </a:solidFill>
          <a:ln xmlns:a="http://schemas.openxmlformats.org/drawingml/2006/main" w="9525">
            <a:solidFill>
              <a:srgbClr val="65A96E"/>
            </a:solidFill>
            <a:prstDash val="solid"/>
          </a:ln>
        </p:spPr>
      </p:sp>
      <p:sp>
        <p:nvSpPr>
          <p:cNvPr id="5" name="brand-initials">
            <a:extLst xmlns:a="http://schemas.openxmlformats.org/drawingml/2006/main">
              <a:ext uri="{FF2B5EF4-FFF2-40B4-BE49-F238E27FC236}">
                <a16:creationId xmlns:a16="http://schemas.microsoft.com/office/drawing/2014/main" id="{83FE52A3-E99A-42FC-997D-50635F98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76300"/>
            <a:ext cx="142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PV</a:t>
            </a:r>
          </a:p>
        </p:txBody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1E8C2E61-8516-46B8-9BFF-AA4665B9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C3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C38F"/>
                </a:solidFill>
                <a:latin typeface="Arial"/>
                <a:ea typeface="Arial"/>
                <a:cs typeface="Arial"/>
              </a:rPr>
              <a:t>Proyecto académico · Arquitectura multicapa en .NET</a:t>
            </a:r>
          </a:p>
        </p:txBody>
      </p:sp>
    </p:spTree>
    <p:extLst>
      <p:ext uri="{BB962C8B-B14F-4D97-AF65-F5344CB8AC3E}">
        <p14:creationId xmlns:p14="http://schemas.microsoft.com/office/powerpoint/2010/main" val="17036262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-2">
            <a:extLst xmlns:a="http://schemas.openxmlformats.org/drawingml/2006/main">
              <a:ext uri="{FF2B5EF4-FFF2-40B4-BE49-F238E27FC236}">
                <a16:creationId xmlns:a16="http://schemas.microsoft.com/office/drawing/2014/main" id="{B4D91A4D-66A1-4C39-AAF3-F7C973F5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A5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7A50"/>
                </a:solidFill>
                <a:latin typeface="Arial"/>
                <a:ea typeface="Arial"/>
                <a:cs typeface="Arial"/>
              </a:rPr>
              <a:t>CONTEXTO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958E1493-6B1C-4138-BFEB-8D2A4BE8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12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126"/>
                </a:solidFill>
                <a:latin typeface="Arial"/>
                <a:ea typeface="Arial"/>
                <a:cs typeface="Arial"/>
              </a:rPr>
              <a:t>Una operación conectada evita pérdidas de información</a:t>
            </a:r>
          </a:p>
        </p:txBody>
      </p:sp>
      <p:sp>
        <p:nvSpPr>
          <p:cNvPr id="3" name="footer-2">
            <a:extLst xmlns:a="http://schemas.openxmlformats.org/drawingml/2006/main">
              <a:ext uri="{FF2B5EF4-FFF2-40B4-BE49-F238E27FC236}">
                <a16:creationId xmlns:a16="http://schemas.microsoft.com/office/drawing/2014/main" id="{F2172D13-1816-4DE9-ABCB-E3426FBB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problem-label">
            <a:extLst xmlns:a="http://schemas.openxmlformats.org/drawingml/2006/main">
              <a:ext uri="{FF2B5EF4-FFF2-40B4-BE49-F238E27FC236}">
                <a16:creationId xmlns:a16="http://schemas.microsoft.com/office/drawing/2014/main" id="{420F91BC-D225-4849-B712-1DC38CEE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56D"/>
                </a:solidFill>
                <a:latin typeface="Arial"/>
                <a:ea typeface="Arial"/>
                <a:cs typeface="Arial"/>
              </a:rPr>
              <a:t>EL RETO</a:t>
            </a:r>
          </a:p>
        </p:txBody>
      </p:sp>
      <p:sp>
        <p:nvSpPr>
          <p:cNvPr id="5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6E5A748F-C57F-4762-8F15-BBFBBCB4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12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126"/>
                </a:solidFill>
                <a:latin typeface="Arial"/>
                <a:ea typeface="Arial"/>
                <a:cs typeface="Arial"/>
              </a:rPr>
              <a:t>Procesos aislados</a:t>
            </a:r>
          </a:p>
        </p:txBody>
      </p:sp>
      <p:sp>
        <p:nvSpPr>
          <p:cNvPr id="6" name="problem-body">
            <a:extLst xmlns:a="http://schemas.openxmlformats.org/drawingml/2006/main">
              <a:ext uri="{FF2B5EF4-FFF2-40B4-BE49-F238E27FC236}">
                <a16:creationId xmlns:a16="http://schemas.microsoft.com/office/drawing/2014/main" id="{2C2BCCE4-18AC-4EFF-9D1F-ED6B6195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0375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Registros dispersos dificultan conocer el origen de los insumos, el consumo real y la disponibilidad del producto.</a:t>
            </a:r>
          </a:p>
        </p:txBody>
      </p:sp>
      <p:sp>
        <p:nvSpPr>
          <p:cNvPr id="7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C77B5B53-43DB-428F-8D82-67AEB090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87A5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7A50"/>
                </a:solidFill>
                <a:latin typeface="Arial"/>
                <a:ea typeface="Arial"/>
                <a:cs typeface="Arial"/>
              </a:rPr>
              <a:t>LA RESPUESTA</a:t>
            </a:r>
          </a:p>
        </p:txBody>
      </p:sp>
      <p:sp>
        <p:nvSpPr>
          <p:cNvPr id="8" name="solution-title">
            <a:extLst xmlns:a="http://schemas.openxmlformats.org/drawingml/2006/main">
              <a:ext uri="{FF2B5EF4-FFF2-40B4-BE49-F238E27FC236}">
                <a16:creationId xmlns:a16="http://schemas.microsoft.com/office/drawing/2014/main" id="{8C6CC22B-2F25-41A1-8327-26AF5A9D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241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12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126"/>
                </a:solidFill>
                <a:latin typeface="Arial"/>
                <a:ea typeface="Arial"/>
                <a:cs typeface="Arial"/>
              </a:rPr>
              <a:t>Trazabilidad centralizada</a:t>
            </a:r>
          </a:p>
        </p:txBody>
      </p:sp>
      <p:sp>
        <p:nvSpPr>
          <p:cNvPr id="9" name="solution-body">
            <a:extLst xmlns:a="http://schemas.openxmlformats.org/drawingml/2006/main">
              <a:ext uri="{FF2B5EF4-FFF2-40B4-BE49-F238E27FC236}">
                <a16:creationId xmlns:a16="http://schemas.microsoft.com/office/drawing/2014/main" id="{8AAFADD1-92CC-4F5B-AF90-0ACD3E85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0375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Una sola plataforma relaciona recepciones, inventario, recetas, lotes de producción y despachos con responsables identificados.</a:t>
            </a:r>
          </a:p>
        </p:txBody>
      </p:sp>
      <p:cxnSp>
        <p:nvCxnSpPr>
          <p:cNvPr id="22" name="divider"/>
          <p:cNvCxnSpPr/>
          <p:nvPr/>
        </p:nvCxnSpPr>
        <p:spPr>
          <a:xfrm xmlns:a="http://schemas.openxmlformats.org/drawingml/2006/main">
            <a:off x="6048375" y="1924050"/>
            <a:ext cx="0" cy="3048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E2DC"/>
            </a:solidFill>
            <a:prstDash val="solid"/>
          </a:ln>
        </p:spPr>
      </p:cxnSp>
      <p:sp>
        <p:nvSpPr>
          <p:cNvPr id="11" name="outcome">
            <a:extLst xmlns:a="http://schemas.openxmlformats.org/drawingml/2006/main">
              <a:ext uri="{FF2B5EF4-FFF2-40B4-BE49-F238E27FC236}">
                <a16:creationId xmlns:a16="http://schemas.microsoft.com/office/drawing/2014/main" id="{237EDC71-793D-4139-AC74-CD8F1E23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95875"/>
            <a:ext cx="108775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23D2C"/>
          </a:solidFill>
          <a:ln xmlns:a="http://schemas.openxmlformats.org/drawingml/2006/main" w="9525">
            <a:solidFill>
              <a:srgbClr val="123D2C"/>
            </a:solidFill>
            <a:prstDash val="solid"/>
          </a:ln>
        </p:spPr>
      </p:sp>
      <p:sp>
        <p:nvSpPr>
          <p:cNvPr id="12" name="outcome-text">
            <a:extLst xmlns:a="http://schemas.openxmlformats.org/drawingml/2006/main">
              <a:ext uri="{FF2B5EF4-FFF2-40B4-BE49-F238E27FC236}">
                <a16:creationId xmlns:a16="http://schemas.microsoft.com/office/drawing/2014/main" id="{2C63CA7A-D28D-4F44-8BA1-73A7291F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95875"/>
            <a:ext cx="10306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Resultado esperado: información consistente, segura y consultable durante todo el proceso.</a:t>
            </a:r>
          </a:p>
        </p:txBody>
      </p:sp>
    </p:spTree>
    <p:extLst>
      <p:ext uri="{BB962C8B-B14F-4D97-AF65-F5344CB8AC3E}">
        <p14:creationId xmlns:p14="http://schemas.microsoft.com/office/powerpoint/2010/main" val="19699707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3">
            <a:extLst xmlns:a="http://schemas.openxmlformats.org/drawingml/2006/main">
              <a:ext uri="{FF2B5EF4-FFF2-40B4-BE49-F238E27FC236}">
                <a16:creationId xmlns:a16="http://schemas.microsoft.com/office/drawing/2014/main" id="{C4226D5F-A9C9-4FDF-A11B-C646AC0A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A5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7A50"/>
                </a:solidFill>
                <a:latin typeface="Arial"/>
                <a:ea typeface="Arial"/>
                <a:cs typeface="Arial"/>
              </a:rPr>
              <a:t>DISEÑO TÉCNICO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22D28F19-10D9-4E31-9046-D8F986F8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12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126"/>
                </a:solidFill>
                <a:latin typeface="Arial"/>
                <a:ea typeface="Arial"/>
                <a:cs typeface="Arial"/>
              </a:rPr>
              <a:t>La arquitectura separa interfaz, lógica y datos</a:t>
            </a:r>
          </a:p>
        </p:txBody>
      </p:sp>
      <p:sp>
        <p:nvSpPr>
          <p:cNvPr id="3" name="footer-3">
            <a:extLst xmlns:a="http://schemas.openxmlformats.org/drawingml/2006/main">
              <a:ext uri="{FF2B5EF4-FFF2-40B4-BE49-F238E27FC236}">
                <a16:creationId xmlns:a16="http://schemas.microsoft.com/office/drawing/2014/main" id="{BF0073C6-3CE3-430E-8074-A64D1C6B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num-01">
            <a:extLst xmlns:a="http://schemas.openxmlformats.org/drawingml/2006/main">
              <a:ext uri="{FF2B5EF4-FFF2-40B4-BE49-F238E27FC236}">
                <a16:creationId xmlns:a16="http://schemas.microsoft.com/office/drawing/2014/main" id="{004DE65A-15FD-4622-8594-5A3FA9B9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7A5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7A5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col-title-01">
            <a:extLst xmlns:a="http://schemas.openxmlformats.org/drawingml/2006/main">
              <a:ext uri="{FF2B5EF4-FFF2-40B4-BE49-F238E27FC236}">
                <a16:creationId xmlns:a16="http://schemas.microsoft.com/office/drawing/2014/main" id="{388B45B1-7819-49CE-AFBA-0ECD36C8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050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12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126"/>
                </a:solidFill>
                <a:latin typeface="Arial"/>
                <a:ea typeface="Arial"/>
                <a:cs typeface="Arial"/>
              </a:rPr>
              <a:t>POS.Client</a:t>
            </a:r>
          </a:p>
        </p:txBody>
      </p:sp>
      <p:sp>
        <p:nvSpPr>
          <p:cNvPr id="6" name="col-body-01">
            <a:extLst xmlns:a="http://schemas.openxmlformats.org/drawingml/2006/main">
              <a:ext uri="{FF2B5EF4-FFF2-40B4-BE49-F238E27FC236}">
                <a16:creationId xmlns:a16="http://schemas.microsoft.com/office/drawing/2014/main" id="{AB3FB360-32CA-403C-AC15-398143C0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314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Aplicación Blazor independiente para la experiencia del usuario.</a:t>
            </a:r>
          </a:p>
        </p:txBody>
      </p:sp>
      <p:cxnSp>
        <p:nvCxnSpPr>
          <p:cNvPr id="24" name="rule-01"/>
          <p:cNvCxnSpPr/>
          <p:nvPr/>
        </p:nvCxnSpPr>
        <p:spPr>
          <a:xfrm xmlns:a="http://schemas.openxmlformats.org/drawingml/2006/main">
            <a:off x="552450" y="459105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E2DC"/>
            </a:solidFill>
            <a:prstDash val="solid"/>
          </a:ln>
        </p:spPr>
      </p:cxnSp>
      <p:sp>
        <p:nvSpPr>
          <p:cNvPr id="8" name="num-02">
            <a:extLst xmlns:a="http://schemas.openxmlformats.org/drawingml/2006/main">
              <a:ext uri="{FF2B5EF4-FFF2-40B4-BE49-F238E27FC236}">
                <a16:creationId xmlns:a16="http://schemas.microsoft.com/office/drawing/2014/main" id="{DD09F27C-84C0-4CE6-90F0-5691A2E3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478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7A5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7A5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col-title-02">
            <a:extLst xmlns:a="http://schemas.openxmlformats.org/drawingml/2006/main">
              <a:ext uri="{FF2B5EF4-FFF2-40B4-BE49-F238E27FC236}">
                <a16:creationId xmlns:a16="http://schemas.microsoft.com/office/drawing/2014/main" id="{55DCD109-6539-40EE-A87F-CC348858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5050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12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126"/>
                </a:solidFill>
                <a:latin typeface="Arial"/>
                <a:ea typeface="Arial"/>
                <a:cs typeface="Arial"/>
              </a:rPr>
              <a:t>POS.Server</a:t>
            </a:r>
          </a:p>
        </p:txBody>
      </p:sp>
      <p:sp>
        <p:nvSpPr>
          <p:cNvPr id="10" name="col-body-02">
            <a:extLst xmlns:a="http://schemas.openxmlformats.org/drawingml/2006/main">
              <a:ext uri="{FF2B5EF4-FFF2-40B4-BE49-F238E27FC236}">
                <a16:creationId xmlns:a16="http://schemas.microsoft.com/office/drawing/2014/main" id="{D7BF8ACD-F988-4F18-96BB-56267AF4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43250"/>
            <a:ext cx="314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Web API, autenticación JWT, servicios y reglas del negocio.</a:t>
            </a:r>
          </a:p>
        </p:txBody>
      </p:sp>
      <p:cxnSp>
        <p:nvCxnSpPr>
          <p:cNvPr id="28" name="rule-02"/>
          <p:cNvCxnSpPr/>
          <p:nvPr/>
        </p:nvCxnSpPr>
        <p:spPr>
          <a:xfrm xmlns:a="http://schemas.openxmlformats.org/drawingml/2006/main">
            <a:off x="4238625" y="459105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E2DC"/>
            </a:solidFill>
            <a:prstDash val="solid"/>
          </a:ln>
        </p:spPr>
      </p:cxnSp>
      <p:sp>
        <p:nvSpPr>
          <p:cNvPr id="12" name="num-03">
            <a:extLst xmlns:a="http://schemas.openxmlformats.org/drawingml/2006/main">
              <a:ext uri="{FF2B5EF4-FFF2-40B4-BE49-F238E27FC236}">
                <a16:creationId xmlns:a16="http://schemas.microsoft.com/office/drawing/2014/main" id="{DB896B81-3743-4EB6-907B-DEF5E537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478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7A5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7A5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col-title-03">
            <a:extLst xmlns:a="http://schemas.openxmlformats.org/drawingml/2006/main">
              <a:ext uri="{FF2B5EF4-FFF2-40B4-BE49-F238E27FC236}">
                <a16:creationId xmlns:a16="http://schemas.microsoft.com/office/drawing/2014/main" id="{2CC84BEB-E36B-41EB-AB1B-4A37D116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050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12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126"/>
                </a:solidFill>
                <a:latin typeface="Arial"/>
                <a:ea typeface="Arial"/>
                <a:cs typeface="Arial"/>
              </a:rPr>
              <a:t>SQL Server</a:t>
            </a:r>
          </a:p>
        </p:txBody>
      </p:sp>
      <p:sp>
        <p:nvSpPr>
          <p:cNvPr id="14" name="col-body-03">
            <a:extLst xmlns:a="http://schemas.openxmlformats.org/drawingml/2006/main">
              <a:ext uri="{FF2B5EF4-FFF2-40B4-BE49-F238E27FC236}">
                <a16:creationId xmlns:a16="http://schemas.microsoft.com/office/drawing/2014/main" id="{9096A0DF-CF29-402D-9F4C-7AFCC526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43250"/>
            <a:ext cx="314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Persistencia relacional mediante Entity Framework Core y migraciones.</a:t>
            </a:r>
          </a:p>
        </p:txBody>
      </p:sp>
      <p:cxnSp>
        <p:nvCxnSpPr>
          <p:cNvPr id="32" name="rule-03"/>
          <p:cNvCxnSpPr/>
          <p:nvPr/>
        </p:nvCxnSpPr>
        <p:spPr>
          <a:xfrm xmlns:a="http://schemas.openxmlformats.org/drawingml/2006/main">
            <a:off x="7924800" y="459105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E2DC"/>
            </a:solidFill>
            <a:prstDash val="solid"/>
          </a:ln>
        </p:spPr>
      </p:cxnSp>
      <p:sp>
        <p:nvSpPr>
          <p:cNvPr id="16" name="security-label">
            <a:extLst xmlns:a="http://schemas.openxmlformats.org/drawingml/2006/main">
              <a:ext uri="{FF2B5EF4-FFF2-40B4-BE49-F238E27FC236}">
                <a16:creationId xmlns:a16="http://schemas.microsoft.com/office/drawing/2014/main" id="{3BD34870-9D18-4110-81EC-EB0CF586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958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A5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7A50"/>
                </a:solidFill>
                <a:latin typeface="Arial"/>
                <a:ea typeface="Arial"/>
                <a:cs typeface="Arial"/>
              </a:rPr>
              <a:t>SEGURIDAD TRANSVERSAL</a:t>
            </a:r>
          </a:p>
        </p:txBody>
      </p:sp>
      <p:sp>
        <p:nvSpPr>
          <p:cNvPr id="17" name="security-body">
            <a:extLst xmlns:a="http://schemas.openxmlformats.org/drawingml/2006/main">
              <a:ext uri="{FF2B5EF4-FFF2-40B4-BE49-F238E27FC236}">
                <a16:creationId xmlns:a16="http://schemas.microsoft.com/office/drawing/2014/main" id="{578FF635-1B88-4D9C-A6C3-C874B33E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1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126"/>
                </a:solidFill>
                <a:latin typeface="Arial"/>
                <a:ea typeface="Arial"/>
                <a:cs typeface="Arial"/>
              </a:rPr>
              <a:t>Roles y autorización · BCrypt para contraseñas · clave JWT externalizada con User Secrets</a:t>
            </a:r>
          </a:p>
        </p:txBody>
      </p:sp>
    </p:spTree>
    <p:extLst>
      <p:ext uri="{BB962C8B-B14F-4D97-AF65-F5344CB8AC3E}">
        <p14:creationId xmlns:p14="http://schemas.microsoft.com/office/powerpoint/2010/main" val="13974849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-4">
            <a:extLst xmlns:a="http://schemas.openxmlformats.org/drawingml/2006/main">
              <a:ext uri="{FF2B5EF4-FFF2-40B4-BE49-F238E27FC236}">
                <a16:creationId xmlns:a16="http://schemas.microsoft.com/office/drawing/2014/main" id="{2C871D46-4911-4C4E-AE4E-5E4AE480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A5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7A50"/>
                </a:solidFill>
                <a:latin typeface="Arial"/>
                <a:ea typeface="Arial"/>
                <a:cs typeface="Arial"/>
              </a:rPr>
              <a:t>VISIÓN GENERAL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1998F457-A887-4D28-877C-C02A552F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12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126"/>
                </a:solidFill>
                <a:latin typeface="Arial"/>
                <a:ea typeface="Arial"/>
                <a:cs typeface="Arial"/>
              </a:rPr>
              <a:t>Cada movimiento conserva el hilo de la trazabilidad</a:t>
            </a:r>
          </a:p>
        </p:txBody>
      </p:sp>
      <p:sp>
        <p:nvSpPr>
          <p:cNvPr id="3" name="footer-4">
            <a:extLst xmlns:a="http://schemas.openxmlformats.org/drawingml/2006/main">
              <a:ext uri="{FF2B5EF4-FFF2-40B4-BE49-F238E27FC236}">
                <a16:creationId xmlns:a16="http://schemas.microsoft.com/office/drawing/2014/main" id="{ECD876F4-6ED4-4829-9A47-43C3B768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cxnSp>
        <p:nvCxnSpPr>
          <p:cNvPr id="33" name="flow-line"/>
          <p:cNvCxnSpPr/>
          <p:nvPr/>
        </p:nvCxnSpPr>
        <p:spPr>
          <a:xfrm xmlns:a="http://schemas.openxmlformats.org/drawingml/2006/main">
            <a:off x="819150" y="3381375"/>
            <a:ext cx="10477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5A96E"/>
            </a:solidFill>
            <a:prstDash val="solid"/>
          </a:ln>
        </p:spPr>
      </p:cxnSp>
      <p:sp>
        <p:nvSpPr>
          <p:cNvPr id="5" name="node-0">
            <a:extLst xmlns:a="http://schemas.openxmlformats.org/drawingml/2006/main">
              <a:ext uri="{FF2B5EF4-FFF2-40B4-BE49-F238E27FC236}">
                <a16:creationId xmlns:a16="http://schemas.microsoft.com/office/drawing/2014/main" id="{30517AE7-4E1D-4962-A6BA-FB61B629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575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A5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6" name="step-num-0">
            <a:extLst xmlns:a="http://schemas.openxmlformats.org/drawingml/2006/main">
              <a:ext uri="{FF2B5EF4-FFF2-40B4-BE49-F238E27FC236}">
                <a16:creationId xmlns:a16="http://schemas.microsoft.com/office/drawing/2014/main" id="{81AE896B-A8DF-4293-B1C8-3481A72B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3812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87A5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7A5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E00CE0A9-3120-497D-BB6A-A4DDEC01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" y="376237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1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126"/>
                </a:solidFill>
                <a:latin typeface="Arial"/>
                <a:ea typeface="Arial"/>
                <a:cs typeface="Arial"/>
              </a:rPr>
              <a:t>Recepción</a:t>
            </a:r>
          </a:p>
        </p:txBody>
      </p:sp>
      <p:sp>
        <p:nvSpPr>
          <p:cNvPr id="8" name="step-body-0">
            <a:extLst xmlns:a="http://schemas.openxmlformats.org/drawingml/2006/main">
              <a:ext uri="{FF2B5EF4-FFF2-40B4-BE49-F238E27FC236}">
                <a16:creationId xmlns:a16="http://schemas.microsoft.com/office/drawing/2014/main" id="{90A8E8DF-266A-42CA-966B-563414FD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" y="4229100"/>
            <a:ext cx="171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Ingreso de materias primas</a:t>
            </a:r>
          </a:p>
        </p:txBody>
      </p:sp>
      <p:sp>
        <p:nvSpPr>
          <p:cNvPr id="9" name="node-1">
            <a:extLst xmlns:a="http://schemas.openxmlformats.org/drawingml/2006/main">
              <a:ext uri="{FF2B5EF4-FFF2-40B4-BE49-F238E27FC236}">
                <a16:creationId xmlns:a16="http://schemas.microsoft.com/office/drawing/2014/main" id="{E1583255-0C12-4B4C-AD1F-611F49CC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575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A5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0" name="step-num-1">
            <a:extLst xmlns:a="http://schemas.openxmlformats.org/drawingml/2006/main">
              <a:ext uri="{FF2B5EF4-FFF2-40B4-BE49-F238E27FC236}">
                <a16:creationId xmlns:a16="http://schemas.microsoft.com/office/drawing/2014/main" id="{BAA9B49E-F1BF-455E-AC7B-FBA60395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812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87A5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7A5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CF8AE0E8-56E3-4175-B834-8DC1B16F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6237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1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126"/>
                </a:solidFill>
                <a:latin typeface="Arial"/>
                <a:ea typeface="Arial"/>
                <a:cs typeface="Arial"/>
              </a:rPr>
              <a:t>Inventario</a:t>
            </a:r>
          </a:p>
        </p:txBody>
      </p:sp>
      <p:sp>
        <p:nvSpPr>
          <p:cNvPr id="12" name="step-body-1">
            <a:extLst xmlns:a="http://schemas.openxmlformats.org/drawingml/2006/main">
              <a:ext uri="{FF2B5EF4-FFF2-40B4-BE49-F238E27FC236}">
                <a16:creationId xmlns:a16="http://schemas.microsoft.com/office/drawing/2014/main" id="{EFE23A83-361C-48BF-98E1-DE21FA42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229100"/>
            <a:ext cx="171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Existencias y alertas</a:t>
            </a:r>
          </a:p>
        </p:txBody>
      </p:sp>
      <p:sp>
        <p:nvSpPr>
          <p:cNvPr id="13" name="node-2">
            <a:extLst xmlns:a="http://schemas.openxmlformats.org/drawingml/2006/main">
              <a:ext uri="{FF2B5EF4-FFF2-40B4-BE49-F238E27FC236}">
                <a16:creationId xmlns:a16="http://schemas.microsoft.com/office/drawing/2014/main" id="{F676E164-F814-4E60-9121-55748108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2575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A5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4" name="step-num-2">
            <a:extLst xmlns:a="http://schemas.openxmlformats.org/drawingml/2006/main">
              <a:ext uri="{FF2B5EF4-FFF2-40B4-BE49-F238E27FC236}">
                <a16:creationId xmlns:a16="http://schemas.microsoft.com/office/drawing/2014/main" id="{1A50439C-5871-447A-A635-AEE26080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87A5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7A5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60A3DDA9-2F03-41B3-952B-A8D9029B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76237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1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126"/>
                </a:solidFill>
                <a:latin typeface="Arial"/>
                <a:ea typeface="Arial"/>
                <a:cs typeface="Arial"/>
              </a:rPr>
              <a:t>Recetario</a:t>
            </a:r>
          </a:p>
        </p:txBody>
      </p:sp>
      <p:sp>
        <p:nvSpPr>
          <p:cNvPr id="1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101A3ED5-3247-4705-A284-949283C4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229100"/>
            <a:ext cx="171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Consumo por unidad</a:t>
            </a:r>
          </a:p>
        </p:txBody>
      </p:sp>
      <p:sp>
        <p:nvSpPr>
          <p:cNvPr id="17" name="node-3">
            <a:extLst xmlns:a="http://schemas.openxmlformats.org/drawingml/2006/main">
              <a:ext uri="{FF2B5EF4-FFF2-40B4-BE49-F238E27FC236}">
                <a16:creationId xmlns:a16="http://schemas.microsoft.com/office/drawing/2014/main" id="{74D5B63D-64C9-40A2-9C2B-98926751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2575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A5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8" name="step-num-3">
            <a:extLst xmlns:a="http://schemas.openxmlformats.org/drawingml/2006/main">
              <a:ext uri="{FF2B5EF4-FFF2-40B4-BE49-F238E27FC236}">
                <a16:creationId xmlns:a16="http://schemas.microsoft.com/office/drawing/2014/main" id="{4B28D564-A124-49AD-BEFB-A2C256ED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87A5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7A5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59CA5B9E-ADC1-4C0F-9F08-8E77B98F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6237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1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126"/>
                </a:solidFill>
                <a:latin typeface="Arial"/>
                <a:ea typeface="Arial"/>
                <a:cs typeface="Arial"/>
              </a:rPr>
              <a:t>Producción</a:t>
            </a:r>
          </a:p>
        </p:txBody>
      </p:sp>
      <p:sp>
        <p:nvSpPr>
          <p:cNvPr id="20" name="step-body-3">
            <a:extLst xmlns:a="http://schemas.openxmlformats.org/drawingml/2006/main">
              <a:ext uri="{FF2B5EF4-FFF2-40B4-BE49-F238E27FC236}">
                <a16:creationId xmlns:a16="http://schemas.microsoft.com/office/drawing/2014/main" id="{AA861E14-2915-4AE1-9B31-59441FA8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29100"/>
            <a:ext cx="171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Lotes y consumo automático</a:t>
            </a:r>
          </a:p>
        </p:txBody>
      </p:sp>
      <p:sp>
        <p:nvSpPr>
          <p:cNvPr id="21" name="node-4">
            <a:extLst xmlns:a="http://schemas.openxmlformats.org/drawingml/2006/main">
              <a:ext uri="{FF2B5EF4-FFF2-40B4-BE49-F238E27FC236}">
                <a16:creationId xmlns:a16="http://schemas.microsoft.com/office/drawing/2014/main" id="{8CDC39C5-53E9-4A56-8F0F-3EA9FC5C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2575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A5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2" name="step-num-4">
            <a:extLst xmlns:a="http://schemas.openxmlformats.org/drawingml/2006/main">
              <a:ext uri="{FF2B5EF4-FFF2-40B4-BE49-F238E27FC236}">
                <a16:creationId xmlns:a16="http://schemas.microsoft.com/office/drawing/2014/main" id="{6CC75266-F6D7-4640-9020-708FD6A9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87A5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7A5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FF3F9824-D7C0-4F9D-85D9-2BB5BA7B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6237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1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126"/>
                </a:solidFill>
                <a:latin typeface="Arial"/>
                <a:ea typeface="Arial"/>
                <a:cs typeface="Arial"/>
              </a:rPr>
              <a:t>Despacho</a:t>
            </a:r>
          </a:p>
        </p:txBody>
      </p:sp>
      <p:sp>
        <p:nvSpPr>
          <p:cNvPr id="24" name="step-body-4">
            <a:extLst xmlns:a="http://schemas.openxmlformats.org/drawingml/2006/main">
              <a:ext uri="{FF2B5EF4-FFF2-40B4-BE49-F238E27FC236}">
                <a16:creationId xmlns:a16="http://schemas.microsoft.com/office/drawing/2014/main" id="{6598ABD5-ED10-4CBD-A2A4-29B034EB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171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Salida del producto</a:t>
            </a:r>
          </a:p>
        </p:txBody>
      </p:sp>
      <p:sp>
        <p:nvSpPr>
          <p:cNvPr id="25" name="node-5">
            <a:extLst xmlns:a="http://schemas.openxmlformats.org/drawingml/2006/main">
              <a:ext uri="{FF2B5EF4-FFF2-40B4-BE49-F238E27FC236}">
                <a16:creationId xmlns:a16="http://schemas.microsoft.com/office/drawing/2014/main" id="{857AB6F9-4EDF-4AE9-9B73-D2CB8A83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32575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C38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6" name="step-num-5">
            <a:extLst xmlns:a="http://schemas.openxmlformats.org/drawingml/2006/main">
              <a:ext uri="{FF2B5EF4-FFF2-40B4-BE49-F238E27FC236}">
                <a16:creationId xmlns:a16="http://schemas.microsoft.com/office/drawing/2014/main" id="{E219DE4F-3CAC-458C-8E4A-29890282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3812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87A5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7A5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step-title-5">
            <a:extLst xmlns:a="http://schemas.openxmlformats.org/drawingml/2006/main">
              <a:ext uri="{FF2B5EF4-FFF2-40B4-BE49-F238E27FC236}">
                <a16:creationId xmlns:a16="http://schemas.microsoft.com/office/drawing/2014/main" id="{EFD4A20A-74A9-497A-99BC-AAB9CD76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76237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1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126"/>
                </a:solidFill>
                <a:latin typeface="Arial"/>
                <a:ea typeface="Arial"/>
                <a:cs typeface="Arial"/>
              </a:rPr>
              <a:t>Reporte</a:t>
            </a:r>
          </a:p>
        </p:txBody>
      </p:sp>
      <p:sp>
        <p:nvSpPr>
          <p:cNvPr id="28" name="step-body-5">
            <a:extLst xmlns:a="http://schemas.openxmlformats.org/drawingml/2006/main">
              <a:ext uri="{FF2B5EF4-FFF2-40B4-BE49-F238E27FC236}">
                <a16:creationId xmlns:a16="http://schemas.microsoft.com/office/drawing/2014/main" id="{5EE6424C-2360-4D1A-9DFD-6B5AE339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229100"/>
            <a:ext cx="171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Consulta y seguimiento</a:t>
            </a:r>
          </a:p>
        </p:txBody>
      </p:sp>
      <p:sp>
        <p:nvSpPr>
          <p:cNvPr id="29" name="handoff">
            <a:extLst xmlns:a="http://schemas.openxmlformats.org/drawingml/2006/main">
              <a:ext uri="{FF2B5EF4-FFF2-40B4-BE49-F238E27FC236}">
                <a16:creationId xmlns:a16="http://schemas.microsoft.com/office/drawing/2014/main" id="{71174303-2F8E-47A9-BCDF-E88E248A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76875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23D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D2C"/>
                </a:solidFill>
                <a:latin typeface="Arial"/>
                <a:ea typeface="Arial"/>
                <a:cs typeface="Arial"/>
              </a:rPr>
              <a:t>A continuación: demostración práctica de cada módulo</a:t>
            </a:r>
          </a:p>
        </p:txBody>
      </p:sp>
    </p:spTree>
    <p:extLst>
      <p:ext uri="{BB962C8B-B14F-4D97-AF65-F5344CB8AC3E}">
        <p14:creationId xmlns:p14="http://schemas.microsoft.com/office/powerpoint/2010/main" val="9600786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2026-09-02T18:04:02.8230000Z</dcterms:created>
  <dcterms:modified xsi:type="dcterms:W3CDTF">2026-09-02T18:04:02.8230000Z</dcterms:modified>
</coreProperties>
</file>